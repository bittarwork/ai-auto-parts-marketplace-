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2119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97960"/>
            <a:ext cx="12192119" cy="54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059" y="468000"/>
            <a:ext cx="1152000" cy="11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728000"/>
            <a:ext cx="10752119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4400" b="1" lang="en-US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EV Auto 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20000"/>
            <a:ext cx="10752119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800" b="0" lang="ar-SY">
                <a:solidFill>
                  <a:srgbClr val="BFDBFE"/>
                </a:solidFill>
                <a:latin typeface="Tajawal"/>
                <a:cs typeface="Tajawal"/>
                <a:ea typeface="Tajawal"/>
              </a:rPr>
              <a:t>منصة إلكترونية ذكية لبيع قطع غيار السيارات الكهربائية بالبحث باللغة الطبيعية والتحقق من التوافق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168000"/>
            <a:ext cx="1075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0" lang="ar-SY">
                <a:solidFill>
                  <a:srgbClr val="93C5FD"/>
                </a:solidFill>
                <a:latin typeface="Tajawal"/>
                <a:cs typeface="Tajawal"/>
                <a:ea typeface="Tajawal"/>
              </a:rPr>
              <a:t>الجامعة الافتراضية السورية  |  كلية هندسة المعلوماتية  |  </a:t>
            </a:r>
            <a:r>
              <a:rPr sz="1400" b="0" lang="en-US">
                <a:solidFill>
                  <a:srgbClr val="93C5FD"/>
                </a:solidFill>
                <a:latin typeface="Tajawal"/>
                <a:cs typeface="Tajawal"/>
                <a:ea typeface="Tajawal"/>
              </a:rPr>
              <a:t>BPR 602 –</a:t>
            </a:r>
            <a:r>
              <a:rPr sz="1400" b="0" lang="ar-SY">
                <a:solidFill>
                  <a:srgbClr val="93C5FD"/>
                </a:solidFill>
                <a:latin typeface="Tajawal"/>
                <a:cs typeface="Tajawal"/>
                <a:ea typeface="Tajawal"/>
              </a:rPr>
              <a:t> مشروع التخرج  |  </a:t>
            </a:r>
            <a:r>
              <a:rPr sz="1400" b="0" lang="en-US">
                <a:solidFill>
                  <a:srgbClr val="93C5FD"/>
                </a:solidFill>
                <a:latin typeface="Tajawal"/>
                <a:cs typeface="Tajawal"/>
                <a:ea typeface="Tajawal"/>
              </a:rPr>
              <a:t>S25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8079" y="4683960"/>
            <a:ext cx="3224039" cy="108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04079" y="4791960"/>
            <a:ext cx="3152039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700" b="1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مهند محمد ماهر السقر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4079" y="5259960"/>
            <a:ext cx="315203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الرقم الجامعي: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192707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4039" y="4683960"/>
            <a:ext cx="3224039" cy="108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0039" y="4791960"/>
            <a:ext cx="3152039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700" b="1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عمر محمد زياد السقر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0039" y="5259960"/>
            <a:ext cx="315203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الرقم الجامعي: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130862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4683960"/>
            <a:ext cx="3224039" cy="108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6000" y="4791960"/>
            <a:ext cx="3152039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700" b="1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كامل أحمد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5259960"/>
            <a:ext cx="315203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الرقم الجامعي: [الرقم الجامعي]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6282000"/>
            <a:ext cx="1075211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تاريخ التسليم: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14-09-2026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المشكلة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لماذا يختلف سوق قطع غيار السيارات الكهربائية؟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2079" y="1548000"/>
            <a:ext cx="3680039" cy="229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08119" y="1728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6079" y="1656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صعوبة التعبير عن الحاجة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6079" y="2196000"/>
            <a:ext cx="3392039" cy="157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500"/>
              </a:spcAft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المستخدم يعرف حاجته بلغة طبيعية لكنه لا يعرف تصنيف القطعة أو رقمها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6039" y="1548000"/>
            <a:ext cx="3680039" cy="229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12079" y="1728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0039" y="1656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غياب التحقق من التوافق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0039" y="2196000"/>
            <a:ext cx="3392039" cy="157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500"/>
              </a:spcAft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المتاجر التقليدية تعرض القطعة دون التأكد من ملاءمتها لمركبة المستخدم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1548000"/>
            <a:ext cx="3680039" cy="229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16039" y="1728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1656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تشتّت المعلومات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00" y="2196000"/>
            <a:ext cx="3392039" cy="157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500"/>
              </a:spcAft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التوافق يعتمد على الماركة والموديل والسنة ونوع الموصل وفئة الجهد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2079" y="4059000"/>
            <a:ext cx="3680039" cy="229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08119" y="4239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6079" y="4167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انقطاع تجربة الزائر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6079" y="4707000"/>
            <a:ext cx="3392039" cy="157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500"/>
              </a:spcAft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فرض التسجيل قبل تكوين السلة يُفقد الزائر ما جمعه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6039" y="4059000"/>
            <a:ext cx="3680039" cy="229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12079" y="4239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0039" y="4167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خصوصية قطع </a:t>
            </a:r>
            <a:r>
              <a:rPr sz="1700" b="1" lang="en-US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0039" y="4707000"/>
            <a:ext cx="3392039" cy="157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500"/>
              </a:spcAft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بطاريات جهد عالٍ، شواحن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OBC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، كابلات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CCS2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، محوّلات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DC-DC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000" y="4059000"/>
            <a:ext cx="3680039" cy="229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16039" y="4239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000" y="4167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ضعف البحث التقليدي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000" y="4707000"/>
            <a:ext cx="3392039" cy="157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500"/>
              </a:spcAft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الكلمات المفتاحية لا تفهم القصد: "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Need a fast charger"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الفكرة والأهداف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حالات الاستخدام الرئيسية للأدوار الأربعة (الشكل 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في التقرير)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3</a:t>
            </a:r>
          </a:p>
        </p:txBody>
      </p:sp>
      <p:pic>
        <p:nvPicPr>
          <p:cNvPr id="9" name="Picture 8" descr="fig01-f6b87cad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658" y="1548000"/>
            <a:ext cx="2928349" cy="48420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281665" y="1548000"/>
            <a:ext cx="4586453" cy="484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بحث بعبارة طبيعية إنجليزية يستخرج نوع القطعة والماركة والموديل والسنة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تراجع تدرجي بأربع استراتيجيات يضمن إرجاع نتائج مفيدة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تسجيل مركبات المستخدم والتحقق الحتمي من توافق أي قطعة معها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سلة زائر تُدمج آلياً عند تسجيل الدخول أو إنشاء الحساب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مساعد محادثة يعرف سياق المستخدم مع مسار بديل قائم على القواعد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توصيات مبنية على بيانات المنصة ولوحة إدارة كاملة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ممارسات أمنية: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bcrypt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،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JWT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، تفويض حسب الدور، تحقق من المدخلات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المعمارية العامة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مخطط المكوّنات (الشكل 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6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4</a:t>
            </a:r>
          </a:p>
        </p:txBody>
      </p:sp>
      <p:pic>
        <p:nvPicPr>
          <p:cNvPr id="9" name="Picture 8" descr="fig06-eb010d5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2485479"/>
            <a:ext cx="6705665" cy="2967042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281665" y="1548000"/>
            <a:ext cx="4586453" cy="484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معمارية ثلاثية الطبقات: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React 18 SPA ← REST API ← MongoDB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الخادم بطبقات: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Routes → Middleware → Controllers → Services → Models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OpenAI (gpt-4o-mini)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لطبقة الفهم فقط؛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Redis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اختياري للتخزين المؤقت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الخادم مصدر الحقيقة: الأسعار والضرائب والمخزون تُحسب على الخادم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تدهور رشيق: كل اعتماد خارجي له مسار بديل لا يوقف الخدمة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11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مجموعة بيانات و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9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وحدات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API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و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27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صفحة عميل و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13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صفحة إدارة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تصميم قاعدة البيانات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مخطط الصفوف لنماذج المجال (الشكل 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7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5</a:t>
            </a:r>
          </a:p>
        </p:txBody>
      </p:sp>
      <p:pic>
        <p:nvPicPr>
          <p:cNvPr id="9" name="Picture 8" descr="fig07-25ef832d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2530245"/>
            <a:ext cx="6705665" cy="287751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281665" y="1548000"/>
            <a:ext cx="4586453" cy="484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نموذج وثائقي: تضمين التوافق والمواصفات داخل المنتج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GuestCart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بمعرّف جلسة وفهرس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TTL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يحذفها بعد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30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يوماً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Order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يحفظ لقطة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(Snapshot)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من المنتج وقت الشراء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Settings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مستند وحيد: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EUR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، ضريبة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19%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، شحن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12 €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، مجاني من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150 €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حذف ناعم بعلم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isActive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حفاظاً على الطلبات التاريخية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البحث الذكي: </a:t>
            </a:r>
            <a:r>
              <a:rPr sz="2600" b="1" lang="en-US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LLM</a:t>
            </a: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 في الفهم فقط، والقرار حتمي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مخطط النشاط للبحث الذكي مع المسار البديل (الشكل 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4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6</a:t>
            </a:r>
          </a:p>
        </p:txBody>
      </p:sp>
      <p:pic>
        <p:nvPicPr>
          <p:cNvPr id="9" name="Picture 8" descr="fig04-0265a874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495" y="1548000"/>
            <a:ext cx="2594675" cy="48420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281665" y="1548000"/>
            <a:ext cx="4586453" cy="484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1000"/>
              </a:spcAft>
            </a:pPr>
            <a:r>
              <a:rPr sz="1500" b="1" lang="en-US">
                <a:solidFill>
                  <a:srgbClr val="2563EB"/>
                </a:solidFill>
                <a:latin typeface="Tajawal"/>
                <a:cs typeface="Tajawal"/>
                <a:ea typeface="Tajawal"/>
              </a:rPr>
              <a:t>LLM-Assisted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استخراج </a:t>
            </a:r>
            <a:r>
              <a:rPr sz="15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JSON (partType, brand, model, year)</a:t>
            </a: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من العبارة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مسار بديل بالكلمات المفتاحية بثقة </a:t>
            </a:r>
            <a:r>
              <a:rPr sz="15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30</a:t>
            </a: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عند تعطّل الخدمة</a:t>
            </a:r>
          </a:p>
          <a:p>
            <a:pPr rtl="1" algn="r">
              <a:spcAft>
                <a:spcPts val="1000"/>
              </a:spcAft>
            </a:pPr>
            <a:r>
              <a:rPr sz="1500" b="1" lang="en-US">
                <a:solidFill>
                  <a:srgbClr val="16A34A"/>
                </a:solidFill>
                <a:latin typeface="Tajawal"/>
                <a:cs typeface="Tajawal"/>
                <a:ea typeface="Tajawal"/>
              </a:rPr>
              <a:t>Deterministic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تطبيع الماركات والموديلات بقواميس الأسماء البديلة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تراجع تدرجي: </a:t>
            </a:r>
            <a:r>
              <a:rPr sz="15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strict → no_year → no_model → no_brand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ترتيب موزون: توافق المركبة </a:t>
            </a:r>
            <a:r>
              <a:rPr sz="15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30</a:t>
            </a: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، نص </a:t>
            </a:r>
            <a:r>
              <a:rPr sz="15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20</a:t>
            </a: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، ماركة </a:t>
            </a:r>
            <a:r>
              <a:rPr sz="15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15</a:t>
            </a: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، موديل </a:t>
            </a:r>
            <a:r>
              <a:rPr sz="15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10</a:t>
            </a: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، شعبية </a:t>
            </a:r>
            <a:r>
              <a:rPr sz="15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10 …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5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توافق صريح: </a:t>
            </a:r>
            <a:r>
              <a:rPr sz="15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brand == &amp;&amp; model == &amp;&amp; yearFrom ≤ year ≤ yearTo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سلة الزائر ودمجها عند المصادقة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مخطط النشاط لسلة الزائر (الشكل 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5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7</a:t>
            </a:r>
          </a:p>
        </p:txBody>
      </p:sp>
      <p:pic>
        <p:nvPicPr>
          <p:cNvPr id="9" name="Picture 8" descr="fig05-8a4d68fe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521" y="1548000"/>
            <a:ext cx="2758622" cy="48420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281665" y="1548000"/>
            <a:ext cx="4586453" cy="484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المتصفح يولّد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cart_session_id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ويرسله في ترويسة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X-Cart-Session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الخادم يُخزّن سلة الزائر في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GuestCart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مع التحقق من المخزون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الإجماليات تُحسب على الخادم بالضريبة والشحن باليورو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عند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login/register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يُمرَّر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cartSessionId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فتُدمج الكميات وتُحذف سلة الزائر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نتيجة الاختبار الفعلي: المنتج انتقل بكمية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2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وسلة الزائر أصبحت فارغة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التقنيات المستخدمة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MERN Stack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مع طبقة ذكاء اصطناعي هجينة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2079" y="1548000"/>
            <a:ext cx="3680039" cy="4806001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08119" y="1728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6079" y="1656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الواجهة الأمامية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6079" y="2196000"/>
            <a:ext cx="3392039" cy="40860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React 18 + Vite 4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React Router 6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Tailwind CSS 3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(وضع ليلي)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Axios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،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react-hook-form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،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react-hot-toast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Recharts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للوحة الإدارة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6039" y="1548000"/>
            <a:ext cx="3680039" cy="4806001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12079" y="1728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0039" y="1656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الواجهة الخلفية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0039" y="2196000"/>
            <a:ext cx="3392039" cy="40860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Node.js ≥ 18 + Express 4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Mongoose 7 / MongoDB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JWT + bcrypt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(معامل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12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)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express-validator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،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Helmet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،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CORS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express-rate-limit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1548000"/>
            <a:ext cx="3680039" cy="4806001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16039" y="1728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1656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الذكاء الاصطناعي والبنية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00" y="2196000"/>
            <a:ext cx="3392039" cy="40860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OpenAI SDK v4 – gpt-4o-mini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ioredis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(اختياري، اتصال كسول)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PlantUML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للنمذجة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Git: 42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إيداعاً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مجموعة بذر: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8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ماركات،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25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موديلاً،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48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منتجاً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النظام العامل: البحث الذكي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لقطة حقيقية من النظام (الشكل 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14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في التقرير)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9</a:t>
            </a:r>
          </a:p>
        </p:txBody>
      </p:sp>
      <p:pic>
        <p:nvPicPr>
          <p:cNvPr id="9" name="Picture 8" descr="fig13b-search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1704920"/>
            <a:ext cx="6705665" cy="452816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281665" y="1548000"/>
            <a:ext cx="4586453" cy="484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الاستعلام: "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Battery for Tesla Model 3 2022"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مفتاح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OpenAI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غير صالح عمداً → المسار البديل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(fallback = true)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الاستخراج: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battery / Tesla / 2022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، الاستراتيجية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strict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5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نتائج، أوّلها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Tesla Model 3 12V Auxiliary Battery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بدرجة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65</a:t>
            </a:r>
          </a:p>
          <a:p>
            <a:pPr rtl="1" algn="r" marL="216000" indent="-216000">
              <a:spcAft>
                <a:spcPts val="1000"/>
              </a:spcAft>
              <a:buClr>
                <a:srgbClr val="2563EB"/>
              </a:buClr>
              <a:buChar char="•"/>
            </a:pP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زمن الاستجابة </a:t>
            </a:r>
            <a:r>
              <a:rPr sz="1600" b="0" lang="en-US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657</a:t>
            </a:r>
            <a:r>
              <a:rPr sz="1600" b="0" lang="ar-SY">
                <a:solidFill>
                  <a:srgbClr val="0F172A"/>
                </a:solidFill>
                <a:latin typeface="Tajawal"/>
                <a:cs typeface="Tajawal"/>
                <a:ea typeface="Tajawal"/>
              </a:rPr>
              <a:t> ملّي ثانية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النظام العامل: التحقق الحتمي من التوافق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المنتج نفسه مع مركبتَين مختلفتَين للمستخدم (الشكلان 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15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و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16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10</a:t>
            </a:r>
          </a:p>
        </p:txBody>
      </p:sp>
      <p:pic>
        <p:nvPicPr>
          <p:cNvPr id="9" name="Picture 8" descr="fig14-product-compat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59" y="1705604"/>
            <a:ext cx="5664059" cy="3824791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pic>
        <p:nvPicPr>
          <p:cNvPr id="10" name="Picture 9" descr="fig14b-product-incompati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0" y="1705604"/>
            <a:ext cx="5664059" cy="3824791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40059" y="5760000"/>
            <a:ext cx="566405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500" b="1" lang="en-US">
                <a:solidFill>
                  <a:srgbClr val="16A34A"/>
                </a:solidFill>
                <a:latin typeface="Tajawal"/>
                <a:cs typeface="Tajawal"/>
                <a:ea typeface="Tajawal"/>
              </a:rPr>
              <a:t>Tesla Model 3 (2022) ←</a:t>
            </a:r>
            <a:r>
              <a:rPr sz="1500" b="1" lang="ar-SY">
                <a:solidFill>
                  <a:srgbClr val="16A34A"/>
                </a:solidFill>
                <a:latin typeface="Tajawal"/>
                <a:cs typeface="Tajawal"/>
                <a:ea typeface="Tajawal"/>
              </a:rPr>
              <a:t> متوافق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5760000"/>
            <a:ext cx="566405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500" b="1" lang="en-US">
                <a:solidFill>
                  <a:srgbClr val="DC2626"/>
                </a:solidFill>
                <a:latin typeface="Tajawal"/>
                <a:cs typeface="Tajawal"/>
                <a:ea typeface="Tajawal"/>
              </a:rPr>
              <a:t>BYD Atto 3 (2023) ←</a:t>
            </a:r>
            <a:r>
              <a:rPr sz="1500" b="1" lang="ar-SY">
                <a:solidFill>
                  <a:srgbClr val="DC2626"/>
                </a:solidFill>
                <a:latin typeface="Tajawal"/>
                <a:cs typeface="Tajawal"/>
                <a:ea typeface="Tajawal"/>
              </a:rPr>
              <a:t> غير متوافق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النظام العامل: المساعد الذكي ولوحة الإدارة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المحادثة بالمسار البديل عند تعطّل 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OpenAI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(الشكل 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17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) ولوحة القيادة بمؤشّرات حقيقية (الشكل 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18</a:t>
            </a: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11</a:t>
            </a:r>
          </a:p>
        </p:txBody>
      </p:sp>
      <p:pic>
        <p:nvPicPr>
          <p:cNvPr id="9" name="Picture 8" descr="fig15-chatbot-fall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59" y="1939604"/>
            <a:ext cx="5664059" cy="3824791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pic>
        <p:nvPicPr>
          <p:cNvPr id="10" name="Picture 9" descr="fig16-admin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0" y="1939604"/>
            <a:ext cx="5664059" cy="3824791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الاختبارات المنفّذة فعلياً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نتائج حقيقية على النظام العامل بتاريخ </a:t>
            </a:r>
            <a:r>
              <a:rPr sz="15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2026-09-13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4059" y="1548000"/>
            <a:ext cx="5628059" cy="229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08119" y="1728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8059" y="1656000"/>
            <a:ext cx="505205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en-US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16</a:t>
            </a: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 حالة اختبار </a:t>
            </a:r>
            <a:r>
              <a:rPr sz="1700" b="1" lang="en-US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8059" y="2196000"/>
            <a:ext cx="5340059" cy="157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14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ناجحة (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3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بملاحظات)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2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فاشلة: البحث العربي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(500)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، مسار غير موجود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(500)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1548000"/>
            <a:ext cx="5628059" cy="229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4059" y="1728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1656000"/>
            <a:ext cx="505205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en-US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11</a:t>
            </a: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 عيباً مكتشفاً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" y="2196000"/>
            <a:ext cx="5340059" cy="157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حرج أُصلح (خطأ صياغة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evCatalog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)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10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مفتوحة موثّقة بالخطورة والمصدر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4059" y="4059000"/>
            <a:ext cx="5628059" cy="229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08119" y="4239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8059" y="4167000"/>
            <a:ext cx="505205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ما ثبت عمله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8059" y="4707000"/>
            <a:ext cx="5340059" cy="157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التراجع التدرجي والترتيب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سلة الزائر والدمج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التوافق وفحص الملكية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(401/404)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دورة الطلب: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687.82 €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ومخزون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80→78→80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التفويض: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403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للعميل والمورّد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000" y="4059000"/>
            <a:ext cx="5628059" cy="229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4059" y="4239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000" y="4167000"/>
            <a:ext cx="505205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أبرز العيوب المفتوحة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000" y="4707000"/>
            <a:ext cx="5340059" cy="157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الخادم يتوقف بلا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OPENAI_API_KEY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قبول انتقال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cancelled → confirmed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field: undefined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في أخطاء التحقق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نص شحن مجاني €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500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مقابل إعداد €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150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119" y="162000"/>
            <a:ext cx="612000" cy="61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125999"/>
            <a:ext cx="10680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القيود والآفاق المستقبلية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4000"/>
            <a:ext cx="11472119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نموذج أكاديمي عملي وخارطة طريق واضحة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114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0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EV Auto Parts  |  BPR 602  |  S25  | 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2079" y="1548000"/>
            <a:ext cx="3680039" cy="4806001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08119" y="1728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6079" y="1656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القيود الحالية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6079" y="2196000"/>
            <a:ext cx="3392039" cy="40860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الاعتماد على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OpenAI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مع مسار بديل محدود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الواجهة إنجليزية فقط؛ البحث العربي يفشل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التوافق لا يستخدم الخصائص الكهربائية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لا معاملات في إنشاء الطلب؛ لا اختبارات آلية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6039" y="1548000"/>
            <a:ext cx="3680039" cy="4806001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12079" y="1728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0039" y="1656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أولوية عالية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0039" y="2196000"/>
            <a:ext cx="3392039" cy="40860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إصلاح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D-02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إلى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D-05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إنشاء الطلب ضمن معاملة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MongoDB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اختبارات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Jest + Supertest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 للحالات المنفّذة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1548000"/>
            <a:ext cx="3680039" cy="4806001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16039" y="1728000"/>
            <a:ext cx="90000" cy="3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1656000"/>
            <a:ext cx="310403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1" lang="ar-SY">
                <a:solidFill>
                  <a:srgbClr val="1E3A8A"/>
                </a:solidFill>
                <a:latin typeface="Tajawal"/>
                <a:cs typeface="Tajawal"/>
                <a:ea typeface="Tajawal"/>
              </a:rPr>
              <a:t>أولوية متوسطة وتوسعية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00" y="2196000"/>
            <a:ext cx="3392039" cy="40860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الموصل وفئة الجهد في قرار التوافق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كتالوج ماركات قابل للإدارة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واجهة عربية </a:t>
            </a:r>
            <a:r>
              <a:rPr sz="1300" b="0" lang="en-US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RTL</a:t>
            </a: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، لوحة مورّد، بوابة دفع</a:t>
            </a:r>
          </a:p>
          <a:p>
            <a:pPr rtl="1" algn="r" marL="216000" indent="-216000">
              <a:spcAft>
                <a:spcPts val="500"/>
              </a:spcAft>
              <a:buClr>
                <a:srgbClr val="2563EB"/>
              </a:buClr>
              <a:buChar char="•"/>
            </a:pPr>
            <a:r>
              <a:rPr sz="1300" b="0" lang="ar-SY">
                <a:solidFill>
                  <a:srgbClr val="475569"/>
                </a:solidFill>
                <a:latin typeface="Tajawal"/>
                <a:cs typeface="Tajawal"/>
                <a:ea typeface="Tajawal"/>
              </a:rPr>
              <a:t>تقييم كمّي لدقّة الاستخراج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059" y="1620000"/>
            <a:ext cx="1080000" cy="1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2951999"/>
            <a:ext cx="10752119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4000" b="1" lang="ar-SY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شكراً لحسن استماعكم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816000"/>
            <a:ext cx="1075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800" b="0" lang="en-US">
                <a:solidFill>
                  <a:srgbClr val="BFDBFE"/>
                </a:solidFill>
                <a:latin typeface="Tajawal"/>
                <a:cs typeface="Tajawal"/>
                <a:ea typeface="Tajawal"/>
              </a:rPr>
              <a:t>EV Auto Parts  —</a:t>
            </a:r>
            <a:r>
              <a:rPr sz="1800" b="0" lang="ar-SY">
                <a:solidFill>
                  <a:srgbClr val="BFDBFE"/>
                </a:solidFill>
                <a:latin typeface="Tajawal"/>
                <a:cs typeface="Tajawal"/>
                <a:ea typeface="Tajawal"/>
              </a:rPr>
              <a:t>  أسئلتكم ومناقشتكم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